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sldIdLst>
    <p:sldId id="259" r:id="rId2"/>
    <p:sldId id="260" r:id="rId3"/>
    <p:sldId id="261" r:id="rId4"/>
    <p:sldId id="262" r:id="rId5"/>
    <p:sldId id="263" r:id="rId6"/>
    <p:sldId id="264" r:id="rId7"/>
    <p:sldId id="266" r:id="rId8"/>
    <p:sldId id="265" r:id="rId9"/>
    <p:sldId id="267" r:id="rId10"/>
    <p:sldId id="268" r:id="rId11"/>
    <p:sldId id="269" r:id="rId12"/>
    <p:sldId id="271" r:id="rId13"/>
    <p:sldId id="270" r:id="rId14"/>
    <p:sldId id="272" r:id="rId15"/>
    <p:sldId id="274" r:id="rId16"/>
    <p:sldId id="273" r:id="rId17"/>
    <p:sldId id="275" r:id="rId18"/>
    <p:sldId id="276" r:id="rId19"/>
    <p:sldId id="277"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A147"/>
    <a:srgbClr val="B54C2D"/>
    <a:srgbClr val="B66952"/>
    <a:srgbClr val="B56D45"/>
    <a:srgbClr val="DF98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za Ejaz" userId="96415040b742ee31" providerId="LiveId" clId="{9CC20C1E-6AB1-45C4-8688-00A654330044}"/>
    <pc:docChg chg="undo redo custSel addSld delSld modSld">
      <pc:chgData name="Aiza Ejaz" userId="96415040b742ee31" providerId="LiveId" clId="{9CC20C1E-6AB1-45C4-8688-00A654330044}" dt="2024-05-26T16:12:32.867" v="153" actId="1076"/>
      <pc:docMkLst>
        <pc:docMk/>
      </pc:docMkLst>
      <pc:sldChg chg="addSp modSp mod">
        <pc:chgData name="Aiza Ejaz" userId="96415040b742ee31" providerId="LiveId" clId="{9CC20C1E-6AB1-45C4-8688-00A654330044}" dt="2024-05-26T16:05:20.453" v="2" actId="14100"/>
        <pc:sldMkLst>
          <pc:docMk/>
          <pc:sldMk cId="2355435913" sldId="270"/>
        </pc:sldMkLst>
        <pc:picChg chg="add mod">
          <ac:chgData name="Aiza Ejaz" userId="96415040b742ee31" providerId="LiveId" clId="{9CC20C1E-6AB1-45C4-8688-00A654330044}" dt="2024-05-26T16:05:20.453" v="2" actId="14100"/>
          <ac:picMkLst>
            <pc:docMk/>
            <pc:sldMk cId="2355435913" sldId="270"/>
            <ac:picMk id="3" creationId="{9F380E9A-0E42-4C68-AB40-426C5484323D}"/>
          </ac:picMkLst>
        </pc:picChg>
      </pc:sldChg>
      <pc:sldChg chg="addSp new mod">
        <pc:chgData name="Aiza Ejaz" userId="96415040b742ee31" providerId="LiveId" clId="{9CC20C1E-6AB1-45C4-8688-00A654330044}" dt="2024-05-26T16:06:06.979" v="6" actId="22"/>
        <pc:sldMkLst>
          <pc:docMk/>
          <pc:sldMk cId="942608185" sldId="272"/>
        </pc:sldMkLst>
        <pc:picChg chg="add">
          <ac:chgData name="Aiza Ejaz" userId="96415040b742ee31" providerId="LiveId" clId="{9CC20C1E-6AB1-45C4-8688-00A654330044}" dt="2024-05-26T16:06:06.979" v="6" actId="22"/>
          <ac:picMkLst>
            <pc:docMk/>
            <pc:sldMk cId="942608185" sldId="272"/>
            <ac:picMk id="3" creationId="{B46BB283-0875-414B-B9A1-93730C37BF4E}"/>
          </ac:picMkLst>
        </pc:picChg>
      </pc:sldChg>
      <pc:sldChg chg="addSp modSp add mod">
        <pc:chgData name="Aiza Ejaz" userId="96415040b742ee31" providerId="LiveId" clId="{9CC20C1E-6AB1-45C4-8688-00A654330044}" dt="2024-05-26T16:08:36.265" v="11" actId="14100"/>
        <pc:sldMkLst>
          <pc:docMk/>
          <pc:sldMk cId="1091687371" sldId="273"/>
        </pc:sldMkLst>
        <pc:picChg chg="add mod">
          <ac:chgData name="Aiza Ejaz" userId="96415040b742ee31" providerId="LiveId" clId="{9CC20C1E-6AB1-45C4-8688-00A654330044}" dt="2024-05-26T16:08:36.265" v="11" actId="14100"/>
          <ac:picMkLst>
            <pc:docMk/>
            <pc:sldMk cId="1091687371" sldId="273"/>
            <ac:picMk id="3" creationId="{2920AF93-1911-46A4-90C4-73342296CE27}"/>
          </ac:picMkLst>
        </pc:picChg>
      </pc:sldChg>
      <pc:sldChg chg="addSp modSp add mod">
        <pc:chgData name="Aiza Ejaz" userId="96415040b742ee31" providerId="LiveId" clId="{9CC20C1E-6AB1-45C4-8688-00A654330044}" dt="2024-05-26T16:06:46.468" v="8" actId="14100"/>
        <pc:sldMkLst>
          <pc:docMk/>
          <pc:sldMk cId="2826169410" sldId="274"/>
        </pc:sldMkLst>
        <pc:picChg chg="add mod">
          <ac:chgData name="Aiza Ejaz" userId="96415040b742ee31" providerId="LiveId" clId="{9CC20C1E-6AB1-45C4-8688-00A654330044}" dt="2024-05-26T16:06:46.468" v="8" actId="14100"/>
          <ac:picMkLst>
            <pc:docMk/>
            <pc:sldMk cId="2826169410" sldId="274"/>
            <ac:picMk id="3" creationId="{C977877A-0786-4522-9998-B4F7EB8954F1}"/>
          </ac:picMkLst>
        </pc:picChg>
      </pc:sldChg>
      <pc:sldChg chg="addSp modSp add mod">
        <pc:chgData name="Aiza Ejaz" userId="96415040b742ee31" providerId="LiveId" clId="{9CC20C1E-6AB1-45C4-8688-00A654330044}" dt="2024-05-26T16:09:10.742" v="14" actId="14100"/>
        <pc:sldMkLst>
          <pc:docMk/>
          <pc:sldMk cId="693745477" sldId="275"/>
        </pc:sldMkLst>
        <pc:picChg chg="add mod">
          <ac:chgData name="Aiza Ejaz" userId="96415040b742ee31" providerId="LiveId" clId="{9CC20C1E-6AB1-45C4-8688-00A654330044}" dt="2024-05-26T16:09:10.742" v="14" actId="14100"/>
          <ac:picMkLst>
            <pc:docMk/>
            <pc:sldMk cId="693745477" sldId="275"/>
            <ac:picMk id="3" creationId="{211D33A3-9C3E-4987-BC9F-968603706B22}"/>
          </ac:picMkLst>
        </pc:picChg>
      </pc:sldChg>
      <pc:sldChg chg="addSp modSp add mod">
        <pc:chgData name="Aiza Ejaz" userId="96415040b742ee31" providerId="LiveId" clId="{9CC20C1E-6AB1-45C4-8688-00A654330044}" dt="2024-05-26T16:09:42.969" v="19" actId="14100"/>
        <pc:sldMkLst>
          <pc:docMk/>
          <pc:sldMk cId="1634757156" sldId="276"/>
        </pc:sldMkLst>
        <pc:picChg chg="add mod">
          <ac:chgData name="Aiza Ejaz" userId="96415040b742ee31" providerId="LiveId" clId="{9CC20C1E-6AB1-45C4-8688-00A654330044}" dt="2024-05-26T16:09:42.969" v="19" actId="14100"/>
          <ac:picMkLst>
            <pc:docMk/>
            <pc:sldMk cId="1634757156" sldId="276"/>
            <ac:picMk id="3" creationId="{30DA3C05-C0F0-46E9-9943-44FCD5539C06}"/>
          </ac:picMkLst>
        </pc:picChg>
      </pc:sldChg>
      <pc:sldChg chg="addSp modSp add mod">
        <pc:chgData name="Aiza Ejaz" userId="96415040b742ee31" providerId="LiveId" clId="{9CC20C1E-6AB1-45C4-8688-00A654330044}" dt="2024-05-26T16:10:58.841" v="90" actId="20577"/>
        <pc:sldMkLst>
          <pc:docMk/>
          <pc:sldMk cId="4168690225" sldId="277"/>
        </pc:sldMkLst>
        <pc:spChg chg="add mod">
          <ac:chgData name="Aiza Ejaz" userId="96415040b742ee31" providerId="LiveId" clId="{9CC20C1E-6AB1-45C4-8688-00A654330044}" dt="2024-05-26T16:10:58.841" v="90" actId="20577"/>
          <ac:spMkLst>
            <pc:docMk/>
            <pc:sldMk cId="4168690225" sldId="277"/>
            <ac:spMk id="4" creationId="{19E6FA30-3C96-4C35-A6F5-949BDA212AA9}"/>
          </ac:spMkLst>
        </pc:spChg>
        <pc:picChg chg="add mod">
          <ac:chgData name="Aiza Ejaz" userId="96415040b742ee31" providerId="LiveId" clId="{9CC20C1E-6AB1-45C4-8688-00A654330044}" dt="2024-05-26T16:10:23.360" v="22" actId="14100"/>
          <ac:picMkLst>
            <pc:docMk/>
            <pc:sldMk cId="4168690225" sldId="277"/>
            <ac:picMk id="3" creationId="{B6F1810C-5C9F-414A-A14E-33B3CD8DF08D}"/>
          </ac:picMkLst>
        </pc:picChg>
      </pc:sldChg>
      <pc:sldChg chg="delSp modSp add del mod">
        <pc:chgData name="Aiza Ejaz" userId="96415040b742ee31" providerId="LiveId" clId="{9CC20C1E-6AB1-45C4-8688-00A654330044}" dt="2024-05-26T16:12:32.867" v="153" actId="1076"/>
        <pc:sldMkLst>
          <pc:docMk/>
          <pc:sldMk cId="3138637914" sldId="278"/>
        </pc:sldMkLst>
        <pc:spChg chg="mod">
          <ac:chgData name="Aiza Ejaz" userId="96415040b742ee31" providerId="LiveId" clId="{9CC20C1E-6AB1-45C4-8688-00A654330044}" dt="2024-05-26T16:12:32.867" v="153" actId="1076"/>
          <ac:spMkLst>
            <pc:docMk/>
            <pc:sldMk cId="3138637914" sldId="278"/>
            <ac:spMk id="4" creationId="{19E6FA30-3C96-4C35-A6F5-949BDA212AA9}"/>
          </ac:spMkLst>
        </pc:spChg>
        <pc:picChg chg="del">
          <ac:chgData name="Aiza Ejaz" userId="96415040b742ee31" providerId="LiveId" clId="{9CC20C1E-6AB1-45C4-8688-00A654330044}" dt="2024-05-26T16:11:19.659" v="94" actId="478"/>
          <ac:picMkLst>
            <pc:docMk/>
            <pc:sldMk cId="3138637914" sldId="278"/>
            <ac:picMk id="3" creationId="{B6F1810C-5C9F-414A-A14E-33B3CD8DF08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5/26/2024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52525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5/26/2024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586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5/26/2024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26486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5/26/2024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517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5/26/2024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8887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5/26/2024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4888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5/26/2024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5916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5/26/2024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96479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5/26/2024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6378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5/26/2024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466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5/26/2024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1205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5/26/2024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805943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5/26/2024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8836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5/26/2024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87406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5/26/2024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62302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5/26/2024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4158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5/26/2024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452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5/26/2024</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069802776"/>
      </p:ext>
    </p:extLst>
  </p:cSld>
  <p:clrMap bg1="dk1" tx1="lt1" bg2="dk2" tx2="lt2" accent1="accent1" accent2="accent2" accent3="accent3" accent4="accent4" accent5="accent5" accent6="accent6" hlink="hlink" folHlink="folHlink"/>
  <p:sldLayoutIdLst>
    <p:sldLayoutId id="2147483713" r:id="rId1"/>
    <p:sldLayoutId id="2147483715" r:id="rId2"/>
    <p:sldLayoutId id="2147483716" r:id="rId3"/>
    <p:sldLayoutId id="2147483714" r:id="rId4"/>
    <p:sldLayoutId id="2147483710" r:id="rId5"/>
    <p:sldLayoutId id="2147483694" r:id="rId6"/>
    <p:sldLayoutId id="2147483695" r:id="rId7"/>
    <p:sldLayoutId id="2147483696" r:id="rId8"/>
    <p:sldLayoutId id="2147483697" r:id="rId9"/>
    <p:sldLayoutId id="2147483699" r:id="rId10"/>
    <p:sldLayoutId id="2147483693" r:id="rId11"/>
    <p:sldLayoutId id="2147483700" r:id="rId12"/>
    <p:sldLayoutId id="2147483701" r:id="rId13"/>
    <p:sldLayoutId id="2147483703" r:id="rId14"/>
    <p:sldLayoutId id="2147483704" r:id="rId15"/>
    <p:sldLayoutId id="2147483702" r:id="rId16"/>
    <p:sldLayoutId id="2147483698" r:id="rId17"/>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hyperlink" Target="https://www.pexels.com/photo/computer-macbook-pro-programmer-programming-95742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BC5572-FC33-4C1C-8DEE-C2CF75A7564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2168" y="10"/>
            <a:ext cx="12187683" cy="6857990"/>
          </a:xfrm>
          <a:prstGeom prst="rect">
            <a:avLst/>
          </a:prstGeom>
        </p:spPr>
      </p:pic>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918783" y="2086178"/>
            <a:ext cx="9440034" cy="911021"/>
          </a:xfrm>
        </p:spPr>
        <p:txBody>
          <a:bodyPr>
            <a:normAutofit fontScale="90000"/>
          </a:bodyPr>
          <a:lstStyle/>
          <a:p>
            <a:r>
              <a:rPr lang="en-US" sz="6000" dirty="0">
                <a:solidFill>
                  <a:schemeClr val="tx1"/>
                </a:solidFill>
                <a:latin typeface="Forte" panose="03060902040502070203" pitchFamily="66" charset="0"/>
              </a:rPr>
              <a:t>Online Banking &amp; Car Rental System</a:t>
            </a:r>
            <a:br>
              <a:rPr lang="en-US" sz="6000" dirty="0">
                <a:latin typeface="Forte" panose="03060902040502070203" pitchFamily="66" charset="0"/>
              </a:rPr>
            </a:br>
            <a:endParaRPr lang="en-US" sz="6000" dirty="0">
              <a:latin typeface="Forte" panose="03060902040502070203" pitchFamily="66" charset="0"/>
            </a:endParaRP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9235441" y="3429000"/>
            <a:ext cx="2600960" cy="2997199"/>
          </a:xfrm>
          <a:solidFill>
            <a:schemeClr val="tx1"/>
          </a:solidFill>
        </p:spPr>
        <p:txBody>
          <a:bodyPr>
            <a:normAutofit fontScale="92500" lnSpcReduction="10000"/>
          </a:bodyPr>
          <a:lstStyle/>
          <a:p>
            <a:pPr algn="l"/>
            <a:r>
              <a:rPr lang="en-US" sz="2000" dirty="0">
                <a:solidFill>
                  <a:schemeClr val="bg1">
                    <a:lumMod val="95000"/>
                    <a:lumOff val="5000"/>
                  </a:schemeClr>
                </a:solidFill>
                <a:latin typeface="Algerian" panose="04020705040A02060702" pitchFamily="82" charset="0"/>
              </a:rPr>
              <a:t>By Group 1</a:t>
            </a:r>
          </a:p>
          <a:p>
            <a:pPr algn="l"/>
            <a:r>
              <a:rPr lang="en-US" sz="1600" dirty="0">
                <a:solidFill>
                  <a:schemeClr val="bg1">
                    <a:lumMod val="95000"/>
                    <a:lumOff val="5000"/>
                  </a:schemeClr>
                </a:solidFill>
                <a:latin typeface="Algerian" panose="04020705040A02060702" pitchFamily="82" charset="0"/>
              </a:rPr>
              <a:t>Group Leader</a:t>
            </a:r>
            <a:r>
              <a:rPr lang="en-US" sz="1600" dirty="0">
                <a:solidFill>
                  <a:schemeClr val="bg1">
                    <a:lumMod val="95000"/>
                    <a:lumOff val="5000"/>
                  </a:schemeClr>
                </a:solidFill>
              </a:rPr>
              <a:t>: </a:t>
            </a:r>
            <a:r>
              <a:rPr lang="en-US" sz="1900" dirty="0">
                <a:solidFill>
                  <a:schemeClr val="bg1">
                    <a:lumMod val="95000"/>
                    <a:lumOff val="5000"/>
                  </a:schemeClr>
                </a:solidFill>
                <a:latin typeface="Andalus" panose="02020603050405020304" pitchFamily="18" charset="-78"/>
                <a:cs typeface="Andalus" panose="02020603050405020304" pitchFamily="18" charset="-78"/>
              </a:rPr>
              <a:t>Aiza Ejaz</a:t>
            </a:r>
          </a:p>
          <a:p>
            <a:pPr algn="l"/>
            <a:r>
              <a:rPr lang="en-US" sz="1600" dirty="0">
                <a:solidFill>
                  <a:schemeClr val="bg1">
                    <a:lumMod val="95000"/>
                    <a:lumOff val="5000"/>
                  </a:schemeClr>
                </a:solidFill>
                <a:latin typeface="Algerian" panose="04020705040A02060702" pitchFamily="82" charset="0"/>
              </a:rPr>
              <a:t>Group Members:</a:t>
            </a:r>
          </a:p>
          <a:p>
            <a:pPr algn="l"/>
            <a:r>
              <a:rPr lang="en-US" sz="1600" dirty="0">
                <a:solidFill>
                  <a:schemeClr val="bg1">
                    <a:lumMod val="95000"/>
                    <a:lumOff val="5000"/>
                  </a:schemeClr>
                </a:solidFill>
              </a:rPr>
              <a:t> </a:t>
            </a:r>
            <a:r>
              <a:rPr lang="en-US" sz="1900" dirty="0">
                <a:solidFill>
                  <a:schemeClr val="bg1">
                    <a:lumMod val="95000"/>
                    <a:lumOff val="5000"/>
                  </a:schemeClr>
                </a:solidFill>
                <a:latin typeface="Andalus" panose="02020603050405020304" pitchFamily="18" charset="-78"/>
                <a:cs typeface="Andalus" panose="02020603050405020304" pitchFamily="18" charset="-78"/>
              </a:rPr>
              <a:t>Mahnoor Yasir</a:t>
            </a:r>
          </a:p>
          <a:p>
            <a:pPr algn="l"/>
            <a:r>
              <a:rPr lang="en-US" sz="1900" dirty="0">
                <a:solidFill>
                  <a:schemeClr val="bg1">
                    <a:lumMod val="95000"/>
                    <a:lumOff val="5000"/>
                  </a:schemeClr>
                </a:solidFill>
                <a:latin typeface="Andalus" panose="02020603050405020304" pitchFamily="18" charset="-78"/>
                <a:cs typeface="Andalus" panose="02020603050405020304" pitchFamily="18" charset="-78"/>
              </a:rPr>
              <a:t>Aleeza Azam</a:t>
            </a:r>
          </a:p>
          <a:p>
            <a:pPr algn="l"/>
            <a:r>
              <a:rPr lang="en-US" sz="1900" dirty="0">
                <a:solidFill>
                  <a:schemeClr val="bg1">
                    <a:lumMod val="95000"/>
                    <a:lumOff val="5000"/>
                  </a:schemeClr>
                </a:solidFill>
                <a:latin typeface="Andalus" panose="02020603050405020304" pitchFamily="18" charset="-78"/>
                <a:cs typeface="Andalus" panose="02020603050405020304" pitchFamily="18" charset="-78"/>
              </a:rPr>
              <a:t>Shagufta </a:t>
            </a:r>
            <a:r>
              <a:rPr lang="en-US" sz="1900" dirty="0" err="1">
                <a:solidFill>
                  <a:schemeClr val="bg1">
                    <a:lumMod val="95000"/>
                    <a:lumOff val="5000"/>
                  </a:schemeClr>
                </a:solidFill>
                <a:latin typeface="Andalus" panose="02020603050405020304" pitchFamily="18" charset="-78"/>
                <a:cs typeface="Andalus" panose="02020603050405020304" pitchFamily="18" charset="-78"/>
              </a:rPr>
              <a:t>Muntaha</a:t>
            </a:r>
            <a:endParaRPr lang="en-US" sz="1900" dirty="0">
              <a:solidFill>
                <a:schemeClr val="bg1">
                  <a:lumMod val="95000"/>
                  <a:lumOff val="5000"/>
                </a:schemeClr>
              </a:solidFill>
              <a:latin typeface="Andalus" panose="02020603050405020304" pitchFamily="18" charset="-78"/>
              <a:cs typeface="Andalus" panose="02020603050405020304" pitchFamily="18" charset="-78"/>
            </a:endParaRPr>
          </a:p>
          <a:p>
            <a:pPr algn="l"/>
            <a:r>
              <a:rPr lang="en-US" sz="1900" dirty="0" err="1">
                <a:solidFill>
                  <a:schemeClr val="bg1">
                    <a:lumMod val="95000"/>
                    <a:lumOff val="5000"/>
                  </a:schemeClr>
                </a:solidFill>
                <a:latin typeface="Andalus" panose="02020603050405020304" pitchFamily="18" charset="-78"/>
                <a:cs typeface="Andalus" panose="02020603050405020304" pitchFamily="18" charset="-78"/>
              </a:rPr>
              <a:t>Syeda</a:t>
            </a:r>
            <a:r>
              <a:rPr lang="en-US" sz="1900" dirty="0">
                <a:solidFill>
                  <a:schemeClr val="bg1">
                    <a:lumMod val="95000"/>
                    <a:lumOff val="5000"/>
                  </a:schemeClr>
                </a:solidFill>
                <a:latin typeface="Andalus" panose="02020603050405020304" pitchFamily="18" charset="-78"/>
                <a:cs typeface="Andalus" panose="02020603050405020304" pitchFamily="18" charset="-78"/>
              </a:rPr>
              <a:t> Isma Nazir</a:t>
            </a:r>
          </a:p>
          <a:p>
            <a:pPr marL="342900" indent="-342900">
              <a:buFont typeface="+mj-lt"/>
              <a:buAutoNum type="arabicPeriod"/>
            </a:pPr>
            <a:endParaRPr lang="en-US" sz="1600" dirty="0"/>
          </a:p>
          <a:p>
            <a:endParaRPr lang="en-US" sz="2800" dirty="0"/>
          </a:p>
        </p:txBody>
      </p:sp>
    </p:spTree>
    <p:extLst>
      <p:ext uri="{BB962C8B-B14F-4D97-AF65-F5344CB8AC3E}">
        <p14:creationId xmlns:p14="http://schemas.microsoft.com/office/powerpoint/2010/main" val="63373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FBE294-386D-4ECB-A6CF-1B2FC9E3CCBC}"/>
              </a:ext>
            </a:extLst>
          </p:cNvPr>
          <p:cNvSpPr txBox="1"/>
          <p:nvPr/>
        </p:nvSpPr>
        <p:spPr>
          <a:xfrm>
            <a:off x="4231162" y="117812"/>
            <a:ext cx="3729675" cy="523220"/>
          </a:xfrm>
          <a:prstGeom prst="rect">
            <a:avLst/>
          </a:prstGeom>
          <a:noFill/>
        </p:spPr>
        <p:txBody>
          <a:bodyPr wrap="none" rtlCol="0">
            <a:spAutoFit/>
          </a:bodyPr>
          <a:lstStyle/>
          <a:p>
            <a:r>
              <a:rPr lang="en-US" sz="2800" dirty="0">
                <a:latin typeface="Forte" panose="03060902040502070203" pitchFamily="66" charset="0"/>
              </a:rPr>
              <a:t>Online Banking System</a:t>
            </a:r>
          </a:p>
        </p:txBody>
      </p:sp>
      <p:sp>
        <p:nvSpPr>
          <p:cNvPr id="6" name="TextBox 5">
            <a:extLst>
              <a:ext uri="{FF2B5EF4-FFF2-40B4-BE49-F238E27FC236}">
                <a16:creationId xmlns:a16="http://schemas.microsoft.com/office/drawing/2014/main" id="{ED0D7EFD-58CA-40DC-9F4E-5869F5274FEC}"/>
              </a:ext>
            </a:extLst>
          </p:cNvPr>
          <p:cNvSpPr txBox="1"/>
          <p:nvPr/>
        </p:nvSpPr>
        <p:spPr>
          <a:xfrm>
            <a:off x="457200" y="800100"/>
            <a:ext cx="11150600" cy="5940088"/>
          </a:xfrm>
          <a:prstGeom prst="rect">
            <a:avLst/>
          </a:prstGeom>
          <a:solidFill>
            <a:schemeClr val="tx1"/>
          </a:solidFill>
        </p:spPr>
        <p:txBody>
          <a:bodyPr wrap="square" rtlCol="0">
            <a:spAutoFit/>
          </a:bodyPr>
          <a:lstStyle/>
          <a:p>
            <a:r>
              <a:rPr lang="en-US" sz="2000" dirty="0">
                <a:solidFill>
                  <a:schemeClr val="bg1"/>
                </a:solidFill>
              </a:rPr>
              <a:t>Class Hierarchy</a:t>
            </a:r>
          </a:p>
          <a:p>
            <a:pPr marL="285750" indent="-285750">
              <a:buFont typeface="Wingdings" panose="05000000000000000000" pitchFamily="2" charset="2"/>
              <a:buChar char="Ø"/>
            </a:pPr>
            <a:r>
              <a:rPr lang="en-US" sz="2000" dirty="0">
                <a:solidFill>
                  <a:schemeClr val="bg1"/>
                </a:solidFill>
              </a:rPr>
              <a:t>Person Class (Base Class)</a:t>
            </a:r>
          </a:p>
          <a:p>
            <a:pPr marL="285750" indent="-285750">
              <a:buFont typeface="Wingdings" panose="05000000000000000000" pitchFamily="2" charset="2"/>
              <a:buChar char="Ø"/>
            </a:pPr>
            <a:r>
              <a:rPr lang="en-US" sz="2000" dirty="0">
                <a:solidFill>
                  <a:schemeClr val="bg1"/>
                </a:solidFill>
              </a:rPr>
              <a:t>Employee Class (Base Class)</a:t>
            </a:r>
          </a:p>
          <a:p>
            <a:pPr marL="285750" indent="-285750">
              <a:buFont typeface="Wingdings" panose="05000000000000000000" pitchFamily="2" charset="2"/>
              <a:buChar char="Ø"/>
            </a:pPr>
            <a:r>
              <a:rPr lang="en-US" sz="2000" dirty="0">
                <a:solidFill>
                  <a:schemeClr val="bg1"/>
                </a:solidFill>
              </a:rPr>
              <a:t>Account Holder (Derived from both base class using virtual inheritance)</a:t>
            </a:r>
          </a:p>
          <a:p>
            <a:pPr marL="285750" indent="-285750">
              <a:buFont typeface="Wingdings" panose="05000000000000000000" pitchFamily="2" charset="2"/>
              <a:buChar char="q"/>
            </a:pPr>
            <a:r>
              <a:rPr lang="en-US" sz="2000" dirty="0">
                <a:solidFill>
                  <a:schemeClr val="bg1"/>
                </a:solidFill>
              </a:rPr>
              <a:t>Person Class</a:t>
            </a:r>
          </a:p>
          <a:p>
            <a:r>
              <a:rPr lang="en-US" sz="2000" dirty="0">
                <a:solidFill>
                  <a:schemeClr val="bg1"/>
                </a:solidFill>
              </a:rPr>
              <a:t>Attributes of Person Class</a:t>
            </a:r>
          </a:p>
          <a:p>
            <a:r>
              <a:rPr lang="en-US" sz="2000" dirty="0">
                <a:solidFill>
                  <a:schemeClr val="bg1"/>
                </a:solidFill>
              </a:rPr>
              <a:t>     name, father name, dob, nationality, </a:t>
            </a:r>
            <a:r>
              <a:rPr lang="en-US" sz="2000" dirty="0" err="1">
                <a:solidFill>
                  <a:schemeClr val="bg1"/>
                </a:solidFill>
              </a:rPr>
              <a:t>Cnic</a:t>
            </a:r>
            <a:r>
              <a:rPr lang="en-US" sz="2000" dirty="0">
                <a:solidFill>
                  <a:schemeClr val="bg1"/>
                </a:solidFill>
              </a:rPr>
              <a:t>, address</a:t>
            </a:r>
          </a:p>
          <a:p>
            <a:r>
              <a:rPr lang="en-US" sz="2000" dirty="0">
                <a:solidFill>
                  <a:schemeClr val="bg1"/>
                </a:solidFill>
              </a:rPr>
              <a:t> Methods of  Person Class</a:t>
            </a:r>
          </a:p>
          <a:p>
            <a:r>
              <a:rPr lang="en-US" sz="2000" dirty="0">
                <a:solidFill>
                  <a:schemeClr val="bg1"/>
                </a:solidFill>
              </a:rPr>
              <a:t>    constructor, destructor, pure virtual function display info</a:t>
            </a:r>
          </a:p>
          <a:p>
            <a:pPr marL="285750" indent="-285750">
              <a:buFont typeface="Wingdings" panose="05000000000000000000" pitchFamily="2" charset="2"/>
              <a:buChar char="q"/>
            </a:pPr>
            <a:r>
              <a:rPr lang="en-US" sz="2000" dirty="0">
                <a:solidFill>
                  <a:schemeClr val="bg1"/>
                </a:solidFill>
              </a:rPr>
              <a:t>Employee Class</a:t>
            </a:r>
          </a:p>
          <a:p>
            <a:r>
              <a:rPr lang="en-US" sz="2000" dirty="0">
                <a:solidFill>
                  <a:schemeClr val="bg1"/>
                </a:solidFill>
              </a:rPr>
              <a:t>Attributes of  Employee Class</a:t>
            </a:r>
          </a:p>
          <a:p>
            <a:r>
              <a:rPr lang="en-US" sz="2000" dirty="0">
                <a:solidFill>
                  <a:schemeClr val="bg1"/>
                </a:solidFill>
              </a:rPr>
              <a:t>     job, organization, empid</a:t>
            </a:r>
          </a:p>
          <a:p>
            <a:r>
              <a:rPr lang="en-US" sz="2000" dirty="0">
                <a:solidFill>
                  <a:schemeClr val="bg1"/>
                </a:solidFill>
              </a:rPr>
              <a:t>Methods of Employee Class</a:t>
            </a:r>
          </a:p>
          <a:p>
            <a:r>
              <a:rPr lang="en-US" sz="2000" dirty="0">
                <a:solidFill>
                  <a:schemeClr val="bg1"/>
                </a:solidFill>
              </a:rPr>
              <a:t>     Constructor, destructor, virtual display employee info</a:t>
            </a:r>
          </a:p>
          <a:p>
            <a:pPr marL="285750" indent="-285750">
              <a:buFont typeface="Wingdings" panose="05000000000000000000" pitchFamily="2" charset="2"/>
              <a:buChar char="q"/>
            </a:pPr>
            <a:r>
              <a:rPr lang="en-US" sz="2000" dirty="0">
                <a:solidFill>
                  <a:schemeClr val="bg1"/>
                </a:solidFill>
              </a:rPr>
              <a:t>Account Holder Class</a:t>
            </a:r>
          </a:p>
          <a:p>
            <a:r>
              <a:rPr lang="en-US" sz="2000" dirty="0">
                <a:solidFill>
                  <a:schemeClr val="bg1"/>
                </a:solidFill>
              </a:rPr>
              <a:t>Attributes of Account Holder Class</a:t>
            </a:r>
          </a:p>
          <a:p>
            <a:r>
              <a:rPr lang="en-US" sz="2000" dirty="0">
                <a:solidFill>
                  <a:schemeClr val="bg1"/>
                </a:solidFill>
              </a:rPr>
              <a:t>     balance</a:t>
            </a:r>
          </a:p>
          <a:p>
            <a:r>
              <a:rPr lang="en-US" sz="2000" dirty="0">
                <a:solidFill>
                  <a:schemeClr val="bg1"/>
                </a:solidFill>
              </a:rPr>
              <a:t>Methods of Account Holder Class</a:t>
            </a:r>
          </a:p>
          <a:p>
            <a:r>
              <a:rPr lang="en-US" sz="2000" dirty="0">
                <a:solidFill>
                  <a:schemeClr val="bg1"/>
                </a:solidFill>
              </a:rPr>
              <a:t>     constructor, withdraw, deposit, transfer, check balance, display info, operator overloading,   destructor</a:t>
            </a:r>
          </a:p>
        </p:txBody>
      </p:sp>
    </p:spTree>
    <p:extLst>
      <p:ext uri="{BB962C8B-B14F-4D97-AF65-F5344CB8AC3E}">
        <p14:creationId xmlns:p14="http://schemas.microsoft.com/office/powerpoint/2010/main" val="2610461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FBE294-386D-4ECB-A6CF-1B2FC9E3CCBC}"/>
              </a:ext>
            </a:extLst>
          </p:cNvPr>
          <p:cNvSpPr txBox="1"/>
          <p:nvPr/>
        </p:nvSpPr>
        <p:spPr>
          <a:xfrm>
            <a:off x="3434105" y="350911"/>
            <a:ext cx="5247590" cy="707886"/>
          </a:xfrm>
          <a:prstGeom prst="rect">
            <a:avLst/>
          </a:prstGeom>
          <a:noFill/>
        </p:spPr>
        <p:txBody>
          <a:bodyPr wrap="none" rtlCol="0">
            <a:spAutoFit/>
          </a:bodyPr>
          <a:lstStyle/>
          <a:p>
            <a:r>
              <a:rPr lang="en-US" sz="4000" dirty="0">
                <a:latin typeface="Forte" panose="03060902040502070203" pitchFamily="66" charset="0"/>
              </a:rPr>
              <a:t>Online Banking System</a:t>
            </a:r>
          </a:p>
        </p:txBody>
      </p:sp>
      <p:sp>
        <p:nvSpPr>
          <p:cNvPr id="3" name="Rectangle 1">
            <a:extLst>
              <a:ext uri="{FF2B5EF4-FFF2-40B4-BE49-F238E27FC236}">
                <a16:creationId xmlns:a16="http://schemas.microsoft.com/office/drawing/2014/main" id="{C1020BF7-CC59-49A6-8520-F51391B3BC57}"/>
              </a:ext>
            </a:extLst>
          </p:cNvPr>
          <p:cNvSpPr>
            <a:spLocks noChangeArrowheads="1"/>
          </p:cNvSpPr>
          <p:nvPr/>
        </p:nvSpPr>
        <p:spPr bwMode="auto">
          <a:xfrm>
            <a:off x="215900" y="1874537"/>
            <a:ext cx="11684000" cy="43709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2000" dirty="0">
                <a:solidFill>
                  <a:schemeClr val="bg1"/>
                </a:solidFill>
              </a:rPr>
              <a:t>1</a:t>
            </a:r>
            <a:r>
              <a:rPr kumimoji="0" lang="en-US" altLang="en-US" sz="2000" b="0" i="0" u="none" strike="noStrike" cap="none" normalizeH="0" baseline="0" dirty="0">
                <a:ln>
                  <a:noFill/>
                </a:ln>
                <a:solidFill>
                  <a:schemeClr val="bg1"/>
                </a:solidFill>
                <a:effectLst/>
              </a:rPr>
              <a:t>.</a:t>
            </a:r>
            <a:r>
              <a:rPr kumimoji="0" lang="en-US" altLang="en-US" sz="2400" b="0" i="0" u="none" strike="noStrike" cap="none" normalizeH="0" baseline="0" dirty="0">
                <a:ln>
                  <a:noFill/>
                </a:ln>
                <a:solidFill>
                  <a:schemeClr val="bg1"/>
                </a:solidFill>
                <a:effectLst/>
              </a:rPr>
              <a:t> </a:t>
            </a:r>
            <a:r>
              <a:rPr kumimoji="0" lang="en-US" altLang="en-US" sz="2400" b="1" i="0" u="none" strike="noStrike" cap="none" normalizeH="0" baseline="0" dirty="0">
                <a:ln>
                  <a:noFill/>
                </a:ln>
                <a:solidFill>
                  <a:srgbClr val="0D0D0D"/>
                </a:solidFill>
                <a:effectLst/>
              </a:rPr>
              <a:t>Inheritance</a:t>
            </a:r>
            <a:r>
              <a:rPr kumimoji="0" lang="en-US" altLang="en-US" sz="2400" b="0" i="0" u="none" strike="noStrike" cap="none" normalizeH="0" baseline="0" dirty="0">
                <a:ln>
                  <a:noFill/>
                </a:ln>
                <a:solidFill>
                  <a:srgbClr val="0D0D0D"/>
                </a:solidFill>
                <a:effectLst/>
              </a:rPr>
              <a:t>: </a:t>
            </a:r>
            <a:r>
              <a:rPr kumimoji="0" lang="en-US" altLang="en-US" sz="2400" b="1" i="0" u="none" strike="noStrike" cap="none" normalizeH="0" baseline="0" dirty="0">
                <a:ln>
                  <a:noFill/>
                </a:ln>
                <a:solidFill>
                  <a:srgbClr val="0D0D0D"/>
                </a:solidFill>
                <a:effectLst/>
              </a:rPr>
              <a:t>Account Holder</a:t>
            </a:r>
            <a:r>
              <a:rPr kumimoji="0" lang="en-US" altLang="en-US" sz="2400" b="0" i="0" u="none" strike="noStrike" cap="none" normalizeH="0" baseline="0" dirty="0">
                <a:ln>
                  <a:noFill/>
                </a:ln>
                <a:solidFill>
                  <a:srgbClr val="0D0D0D"/>
                </a:solidFill>
                <a:effectLst/>
              </a:rPr>
              <a:t> inherits from </a:t>
            </a:r>
            <a:r>
              <a:rPr kumimoji="0" lang="en-US" altLang="en-US" sz="2400" b="1" i="0" u="none" strike="noStrike" cap="none" normalizeH="0" baseline="0" dirty="0">
                <a:ln>
                  <a:noFill/>
                </a:ln>
                <a:solidFill>
                  <a:srgbClr val="0D0D0D"/>
                </a:solidFill>
                <a:effectLst/>
              </a:rPr>
              <a:t>Person</a:t>
            </a:r>
            <a:r>
              <a:rPr kumimoji="0" lang="en-US" altLang="en-US" sz="2400" b="0" i="0" u="none" strike="noStrike" cap="none" normalizeH="0" baseline="0" dirty="0">
                <a:ln>
                  <a:noFill/>
                </a:ln>
                <a:solidFill>
                  <a:srgbClr val="0D0D0D"/>
                </a:solidFill>
                <a:effectLst/>
              </a:rPr>
              <a:t> and </a:t>
            </a:r>
            <a:r>
              <a:rPr kumimoji="0" lang="en-US" altLang="en-US" sz="2400" b="1" i="0" u="none" strike="noStrike" cap="none" normalizeH="0" baseline="0" dirty="0">
                <a:ln>
                  <a:noFill/>
                </a:ln>
                <a:solidFill>
                  <a:srgbClr val="0D0D0D"/>
                </a:solidFill>
                <a:effectLst/>
              </a:rPr>
              <a:t>Employee</a:t>
            </a:r>
            <a:r>
              <a:rPr kumimoji="0" lang="en-US" altLang="en-US" sz="2400" b="0" i="0" u="none" strike="noStrike" cap="none" normalizeH="0" baseline="0" dirty="0">
                <a:ln>
                  <a:noFill/>
                </a:ln>
                <a:solidFill>
                  <a:srgbClr val="0D0D0D"/>
                </a:solidFill>
                <a:effectLst/>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1" i="0" u="none" strike="noStrike" cap="none" normalizeH="0" baseline="0" dirty="0">
                <a:ln>
                  <a:noFill/>
                </a:ln>
                <a:solidFill>
                  <a:srgbClr val="0D0D0D"/>
                </a:solidFill>
                <a:effectLst/>
              </a:rPr>
              <a:t>Virtual Inheritance</a:t>
            </a:r>
            <a:r>
              <a:rPr kumimoji="0" lang="en-US" altLang="en-US" sz="2400" b="0" i="0" u="none" strike="noStrike" cap="none" normalizeH="0" baseline="0" dirty="0">
                <a:ln>
                  <a:noFill/>
                </a:ln>
                <a:solidFill>
                  <a:srgbClr val="0D0D0D"/>
                </a:solidFill>
                <a:effectLst/>
              </a:rPr>
              <a:t>: Used in </a:t>
            </a:r>
            <a:r>
              <a:rPr kumimoji="0" lang="en-US" altLang="en-US" sz="2400" b="1" i="0" u="none" strike="noStrike" cap="none" normalizeH="0" baseline="0" dirty="0">
                <a:ln>
                  <a:noFill/>
                </a:ln>
                <a:solidFill>
                  <a:srgbClr val="0D0D0D"/>
                </a:solidFill>
                <a:effectLst/>
              </a:rPr>
              <a:t>Account Holder</a:t>
            </a:r>
            <a:r>
              <a:rPr kumimoji="0" lang="en-US" altLang="en-US" sz="2400" b="0" i="0" u="none" strike="noStrike" cap="none" normalizeH="0" baseline="0" dirty="0">
                <a:ln>
                  <a:noFill/>
                </a:ln>
                <a:solidFill>
                  <a:srgbClr val="0D0D0D"/>
                </a:solidFill>
                <a:effectLst/>
              </a:rPr>
              <a:t> to resolve the diamond problem.</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1" i="0" u="none" strike="noStrike" cap="none" normalizeH="0" baseline="0" dirty="0">
                <a:ln>
                  <a:noFill/>
                </a:ln>
                <a:solidFill>
                  <a:srgbClr val="0D0D0D"/>
                </a:solidFill>
                <a:effectLst/>
              </a:rPr>
              <a:t>Pure Virtual Functions</a:t>
            </a:r>
            <a:r>
              <a:rPr kumimoji="0" lang="en-US" altLang="en-US" sz="2400" b="0" i="0" u="none" strike="noStrike" cap="none" normalizeH="0" baseline="0" dirty="0">
                <a:ln>
                  <a:noFill/>
                </a:ln>
                <a:solidFill>
                  <a:srgbClr val="0D0D0D"/>
                </a:solidFill>
                <a:effectLst/>
              </a:rPr>
              <a:t>: </a:t>
            </a:r>
            <a:r>
              <a:rPr kumimoji="0" lang="en-US" altLang="en-US" sz="2400" b="1" i="0" u="none" strike="noStrike" cap="none" normalizeH="0" baseline="0" dirty="0">
                <a:ln>
                  <a:noFill/>
                </a:ln>
                <a:solidFill>
                  <a:srgbClr val="0D0D0D"/>
                </a:solidFill>
                <a:effectLst/>
              </a:rPr>
              <a:t>display Info</a:t>
            </a:r>
            <a:r>
              <a:rPr kumimoji="0" lang="en-US" altLang="en-US" sz="2400" b="0" i="0" u="none" strike="noStrike" cap="none" normalizeH="0" baseline="0" dirty="0">
                <a:ln>
                  <a:noFill/>
                </a:ln>
                <a:solidFill>
                  <a:srgbClr val="0D0D0D"/>
                </a:solidFill>
                <a:effectLst/>
              </a:rPr>
              <a:t> in </a:t>
            </a:r>
            <a:r>
              <a:rPr kumimoji="0" lang="en-US" altLang="en-US" sz="2400" b="1" i="0" u="none" strike="noStrike" cap="none" normalizeH="0" baseline="0" dirty="0">
                <a:ln>
                  <a:noFill/>
                </a:ln>
                <a:solidFill>
                  <a:srgbClr val="0D0D0D"/>
                </a:solidFill>
                <a:effectLst/>
              </a:rPr>
              <a:t>Person</a:t>
            </a:r>
            <a:r>
              <a:rPr kumimoji="0" lang="en-US" altLang="en-US" sz="2400" b="0" i="0" u="none" strike="noStrike" cap="none" normalizeH="0" baseline="0" dirty="0">
                <a:ln>
                  <a:noFill/>
                </a:ln>
                <a:solidFill>
                  <a:srgbClr val="0D0D0D"/>
                </a:solidFill>
                <a:effectLst/>
              </a:rPr>
              <a:t> is a pure virtual function.</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1" i="0" u="none" strike="noStrike" cap="none" normalizeH="0" baseline="0" dirty="0">
                <a:ln>
                  <a:noFill/>
                </a:ln>
                <a:solidFill>
                  <a:srgbClr val="0D0D0D"/>
                </a:solidFill>
                <a:effectLst/>
              </a:rPr>
              <a:t>Constructors and Destructors</a:t>
            </a:r>
            <a:r>
              <a:rPr kumimoji="0" lang="en-US" altLang="en-US" sz="2400" b="0" i="0" u="none" strike="noStrike" cap="none" normalizeH="0" baseline="0" dirty="0">
                <a:ln>
                  <a:noFill/>
                </a:ln>
                <a:solidFill>
                  <a:srgbClr val="0D0D0D"/>
                </a:solidFill>
                <a:effectLst/>
              </a:rPr>
              <a:t>: Used for initialization and cleanup.</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400" b="1" i="0" u="none" strike="noStrike" cap="none" normalizeH="0" baseline="0" dirty="0">
                <a:ln>
                  <a:noFill/>
                </a:ln>
                <a:solidFill>
                  <a:srgbClr val="0D0D0D"/>
                </a:solidFill>
                <a:effectLst/>
              </a:rPr>
              <a:t>Function Overloading</a:t>
            </a:r>
            <a:r>
              <a:rPr kumimoji="0" lang="en-US" altLang="en-US" sz="2400" b="0" i="0" u="none" strike="noStrike" cap="none" normalizeH="0" baseline="0" dirty="0">
                <a:ln>
                  <a:noFill/>
                </a:ln>
                <a:solidFill>
                  <a:srgbClr val="0D0D0D"/>
                </a:solidFill>
                <a:effectLst/>
              </a:rPr>
              <a:t>: Different versions of functions for various operations (deposit,  withdraw, transfer, check balance).</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400" b="1" i="0" u="none" strike="noStrike" cap="none" normalizeH="0" baseline="0" dirty="0">
                <a:ln>
                  <a:noFill/>
                </a:ln>
                <a:solidFill>
                  <a:srgbClr val="0D0D0D"/>
                </a:solidFill>
                <a:effectLst/>
              </a:rPr>
              <a:t>Function Overriding</a:t>
            </a:r>
            <a:r>
              <a:rPr kumimoji="0" lang="en-US" altLang="en-US" sz="2400" b="0" i="0" u="none" strike="noStrike" cap="none" normalizeH="0" baseline="0" dirty="0">
                <a:ln>
                  <a:noFill/>
                </a:ln>
                <a:solidFill>
                  <a:srgbClr val="0D0D0D"/>
                </a:solidFill>
                <a:effectLst/>
              </a:rPr>
              <a:t>: </a:t>
            </a:r>
            <a:r>
              <a:rPr kumimoji="0" lang="en-US" altLang="en-US" sz="2400" b="1" i="0" u="none" strike="noStrike" cap="none" normalizeH="0" baseline="0" dirty="0">
                <a:ln>
                  <a:noFill/>
                </a:ln>
                <a:solidFill>
                  <a:srgbClr val="0D0D0D"/>
                </a:solidFill>
                <a:effectLst/>
              </a:rPr>
              <a:t>display Info</a:t>
            </a:r>
            <a:r>
              <a:rPr kumimoji="0" lang="en-US" altLang="en-US" sz="2400" b="0" i="0" u="none" strike="noStrike" cap="none" normalizeH="0" baseline="0" dirty="0">
                <a:ln>
                  <a:noFill/>
                </a:ln>
                <a:solidFill>
                  <a:srgbClr val="0D0D0D"/>
                </a:solidFill>
                <a:effectLst/>
              </a:rPr>
              <a:t> in </a:t>
            </a:r>
            <a:r>
              <a:rPr kumimoji="0" lang="en-US" altLang="en-US" sz="2400" b="1" i="0" u="none" strike="noStrike" cap="none" normalizeH="0" baseline="0" dirty="0">
                <a:ln>
                  <a:noFill/>
                </a:ln>
                <a:solidFill>
                  <a:srgbClr val="0D0D0D"/>
                </a:solidFill>
                <a:effectLst/>
              </a:rPr>
              <a:t>Account Holder</a:t>
            </a:r>
            <a:r>
              <a:rPr kumimoji="0" lang="en-US" altLang="en-US" sz="2400" b="0" i="0" u="none" strike="noStrike" cap="none" normalizeH="0" baseline="0" dirty="0">
                <a:ln>
                  <a:noFill/>
                </a:ln>
                <a:solidFill>
                  <a:srgbClr val="0D0D0D"/>
                </a:solidFill>
                <a:effectLst/>
              </a:rPr>
              <a:t> overrides the pure virtual function from </a:t>
            </a:r>
            <a:r>
              <a:rPr kumimoji="0" lang="en-US" altLang="en-US" sz="2400" b="1" i="0" u="none" strike="noStrike" cap="none" normalizeH="0" baseline="0" dirty="0">
                <a:ln>
                  <a:noFill/>
                </a:ln>
                <a:solidFill>
                  <a:srgbClr val="0D0D0D"/>
                </a:solidFill>
                <a:effectLst/>
              </a:rPr>
              <a:t>Person</a:t>
            </a:r>
            <a:r>
              <a:rPr kumimoji="0" lang="en-US" altLang="en-US" sz="2400" b="0" i="0" u="none" strike="noStrike" cap="none" normalizeH="0" baseline="0" dirty="0">
                <a:ln>
                  <a:noFill/>
                </a:ln>
                <a:solidFill>
                  <a:srgbClr val="0D0D0D"/>
                </a:solidFill>
                <a:effectLst/>
              </a:rPr>
              <a:t>.</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2400" b="1" i="0" u="none" strike="noStrike" cap="none" normalizeH="0" baseline="0" dirty="0">
                <a:ln>
                  <a:noFill/>
                </a:ln>
                <a:solidFill>
                  <a:srgbClr val="0D0D0D"/>
                </a:solidFill>
                <a:effectLst/>
              </a:rPr>
              <a:t>Operator Overloading</a:t>
            </a:r>
            <a:r>
              <a:rPr kumimoji="0" lang="en-US" altLang="en-US" sz="2400" b="0" i="0" u="none" strike="noStrike" cap="none" normalizeH="0" baseline="0" dirty="0">
                <a:ln>
                  <a:noFill/>
                </a:ln>
                <a:solidFill>
                  <a:srgbClr val="0D0D0D"/>
                </a:solidFill>
                <a:effectLst/>
              </a:rPr>
              <a:t>: Overloaded </a:t>
            </a:r>
            <a:r>
              <a:rPr kumimoji="0" lang="en-US" altLang="en-US" sz="2400" b="1" i="0" u="none" strike="noStrike" cap="none" normalizeH="0" baseline="0" dirty="0">
                <a:ln>
                  <a:noFill/>
                </a:ln>
                <a:solidFill>
                  <a:srgbClr val="0D0D0D"/>
                </a:solidFill>
                <a:effectLst/>
              </a:rPr>
              <a:t>&lt;&lt;</a:t>
            </a:r>
            <a:r>
              <a:rPr kumimoji="0" lang="en-US" altLang="en-US" sz="2400" b="0" i="0" u="none" strike="noStrike" cap="none" normalizeH="0" baseline="0" dirty="0">
                <a:ln>
                  <a:noFill/>
                </a:ln>
                <a:solidFill>
                  <a:srgbClr val="0D0D0D"/>
                </a:solidFill>
                <a:effectLst/>
              </a:rPr>
              <a:t> operator for </a:t>
            </a:r>
            <a:r>
              <a:rPr kumimoji="0" lang="en-US" altLang="en-US" sz="2400" b="1" i="0" u="none" strike="noStrike" cap="none" normalizeH="0" baseline="0" dirty="0">
                <a:ln>
                  <a:noFill/>
                </a:ln>
                <a:solidFill>
                  <a:srgbClr val="0D0D0D"/>
                </a:solidFill>
                <a:effectLst/>
              </a:rPr>
              <a:t>Account Holder</a:t>
            </a:r>
            <a:r>
              <a:rPr kumimoji="0" lang="en-US" altLang="en-US" sz="2400" b="0" i="0" u="none" strike="noStrike" cap="none" normalizeH="0" baseline="0" dirty="0">
                <a:ln>
                  <a:noFill/>
                </a:ln>
                <a:solidFill>
                  <a:srgbClr val="0D0D0D"/>
                </a:solidFill>
                <a:effectLst/>
              </a:rPr>
              <a:t>.</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2400" b="1" i="0" u="none" strike="noStrike" cap="none" normalizeH="0" baseline="0" dirty="0">
                <a:ln>
                  <a:noFill/>
                </a:ln>
                <a:solidFill>
                  <a:srgbClr val="0D0D0D"/>
                </a:solidFill>
                <a:effectLst/>
              </a:rPr>
              <a:t>Friend Functions</a:t>
            </a:r>
            <a:r>
              <a:rPr kumimoji="0" lang="en-US" altLang="en-US" sz="2400" b="0" i="0" u="none" strike="noStrike" cap="none" normalizeH="0" baseline="0" dirty="0">
                <a:ln>
                  <a:noFill/>
                </a:ln>
                <a:solidFill>
                  <a:srgbClr val="0D0D0D"/>
                </a:solidFill>
                <a:effectLst/>
              </a:rPr>
              <a:t>: </a:t>
            </a:r>
            <a:r>
              <a:rPr kumimoji="0" lang="en-US" altLang="en-US" sz="2400" b="1" i="0" u="none" strike="noStrike" cap="none" normalizeH="0" baseline="0" dirty="0">
                <a:ln>
                  <a:noFill/>
                </a:ln>
                <a:solidFill>
                  <a:srgbClr val="0D0D0D"/>
                </a:solidFill>
                <a:effectLst/>
              </a:rPr>
              <a:t>&lt;&lt;</a:t>
            </a:r>
            <a:r>
              <a:rPr kumimoji="0" lang="en-US" altLang="en-US" sz="2400" b="0" i="0" u="none" strike="noStrike" cap="none" normalizeH="0" baseline="0" dirty="0">
                <a:ln>
                  <a:noFill/>
                </a:ln>
                <a:solidFill>
                  <a:srgbClr val="0D0D0D"/>
                </a:solidFill>
                <a:effectLst/>
              </a:rPr>
              <a:t> operator declared as a friend of </a:t>
            </a:r>
            <a:r>
              <a:rPr kumimoji="0" lang="en-US" altLang="en-US" sz="2400" b="1" i="0" u="none" strike="noStrike" cap="none" normalizeH="0" baseline="0" dirty="0">
                <a:ln>
                  <a:noFill/>
                </a:ln>
                <a:solidFill>
                  <a:srgbClr val="0D0D0D"/>
                </a:solidFill>
                <a:effectLst/>
              </a:rPr>
              <a:t>Account Holder</a:t>
            </a:r>
            <a:endParaRPr kumimoji="0" lang="en-US" altLang="en-US" sz="2400" b="0" i="0" u="none" strike="noStrike" cap="none" normalizeH="0" baseline="0" dirty="0">
              <a:ln>
                <a:noFill/>
              </a:ln>
              <a:solidFill>
                <a:srgbClr val="0D0D0D"/>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0448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9AB900-2EB0-4FD9-8C86-EF122641B081}"/>
              </a:ext>
            </a:extLst>
          </p:cNvPr>
          <p:cNvPicPr>
            <a:picLocks noChangeAspect="1"/>
          </p:cNvPicPr>
          <p:nvPr/>
        </p:nvPicPr>
        <p:blipFill>
          <a:blip r:embed="rId2"/>
          <a:stretch>
            <a:fillRect/>
          </a:stretch>
        </p:blipFill>
        <p:spPr>
          <a:xfrm>
            <a:off x="45903" y="0"/>
            <a:ext cx="12100193" cy="6858000"/>
          </a:xfrm>
          <a:prstGeom prst="rect">
            <a:avLst/>
          </a:prstGeom>
        </p:spPr>
      </p:pic>
    </p:spTree>
    <p:extLst>
      <p:ext uri="{BB962C8B-B14F-4D97-AF65-F5344CB8AC3E}">
        <p14:creationId xmlns:p14="http://schemas.microsoft.com/office/powerpoint/2010/main" val="2598733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3A0E7B-89C5-4286-9C10-1620B7CB060D}"/>
              </a:ext>
            </a:extLst>
          </p:cNvPr>
          <p:cNvPicPr>
            <a:picLocks noChangeAspect="1"/>
          </p:cNvPicPr>
          <p:nvPr/>
        </p:nvPicPr>
        <p:blipFill>
          <a:blip r:embed="rId2"/>
          <a:stretch>
            <a:fillRect/>
          </a:stretch>
        </p:blipFill>
        <p:spPr>
          <a:xfrm>
            <a:off x="0" y="73280"/>
            <a:ext cx="12192000" cy="6711440"/>
          </a:xfrm>
          <a:prstGeom prst="rect">
            <a:avLst/>
          </a:prstGeom>
        </p:spPr>
      </p:pic>
    </p:spTree>
    <p:extLst>
      <p:ext uri="{BB962C8B-B14F-4D97-AF65-F5344CB8AC3E}">
        <p14:creationId xmlns:p14="http://schemas.microsoft.com/office/powerpoint/2010/main" val="541393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7E84BF-0806-43D1-B0E2-6C952BEDBF0A}"/>
              </a:ext>
            </a:extLst>
          </p:cNvPr>
          <p:cNvPicPr>
            <a:picLocks noChangeAspect="1"/>
          </p:cNvPicPr>
          <p:nvPr/>
        </p:nvPicPr>
        <p:blipFill>
          <a:blip r:embed="rId2"/>
          <a:stretch>
            <a:fillRect/>
          </a:stretch>
        </p:blipFill>
        <p:spPr>
          <a:xfrm>
            <a:off x="283203" y="0"/>
            <a:ext cx="11625594" cy="6858000"/>
          </a:xfrm>
          <a:prstGeom prst="rect">
            <a:avLst/>
          </a:prstGeom>
        </p:spPr>
      </p:pic>
    </p:spTree>
    <p:extLst>
      <p:ext uri="{BB962C8B-B14F-4D97-AF65-F5344CB8AC3E}">
        <p14:creationId xmlns:p14="http://schemas.microsoft.com/office/powerpoint/2010/main" val="2619804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B2EFD1-4253-4417-A458-2582E15E874B}"/>
              </a:ext>
            </a:extLst>
          </p:cNvPr>
          <p:cNvPicPr>
            <a:picLocks noChangeAspect="1"/>
          </p:cNvPicPr>
          <p:nvPr/>
        </p:nvPicPr>
        <p:blipFill>
          <a:blip r:embed="rId2"/>
          <a:stretch>
            <a:fillRect/>
          </a:stretch>
        </p:blipFill>
        <p:spPr>
          <a:xfrm>
            <a:off x="0" y="233175"/>
            <a:ext cx="12192000" cy="6391649"/>
          </a:xfrm>
          <a:prstGeom prst="rect">
            <a:avLst/>
          </a:prstGeom>
        </p:spPr>
      </p:pic>
    </p:spTree>
    <p:extLst>
      <p:ext uri="{BB962C8B-B14F-4D97-AF65-F5344CB8AC3E}">
        <p14:creationId xmlns:p14="http://schemas.microsoft.com/office/powerpoint/2010/main" val="2376842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4B782A-A2B2-4981-BF86-ACF8C41F9EA6}"/>
              </a:ext>
            </a:extLst>
          </p:cNvPr>
          <p:cNvPicPr>
            <a:picLocks noChangeAspect="1"/>
          </p:cNvPicPr>
          <p:nvPr/>
        </p:nvPicPr>
        <p:blipFill>
          <a:blip r:embed="rId2"/>
          <a:stretch>
            <a:fillRect/>
          </a:stretch>
        </p:blipFill>
        <p:spPr>
          <a:xfrm>
            <a:off x="0" y="0"/>
            <a:ext cx="8166100" cy="6858000"/>
          </a:xfrm>
          <a:prstGeom prst="rect">
            <a:avLst/>
          </a:prstGeom>
        </p:spPr>
      </p:pic>
    </p:spTree>
    <p:extLst>
      <p:ext uri="{BB962C8B-B14F-4D97-AF65-F5344CB8AC3E}">
        <p14:creationId xmlns:p14="http://schemas.microsoft.com/office/powerpoint/2010/main" val="2685457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36769D-5C1E-4F31-8955-E37B918FFA01}"/>
              </a:ext>
            </a:extLst>
          </p:cNvPr>
          <p:cNvPicPr>
            <a:picLocks noChangeAspect="1"/>
          </p:cNvPicPr>
          <p:nvPr/>
        </p:nvPicPr>
        <p:blipFill>
          <a:blip r:embed="rId2"/>
          <a:stretch>
            <a:fillRect/>
          </a:stretch>
        </p:blipFill>
        <p:spPr>
          <a:xfrm>
            <a:off x="1" y="0"/>
            <a:ext cx="8674100" cy="6858000"/>
          </a:xfrm>
          <a:prstGeom prst="rect">
            <a:avLst/>
          </a:prstGeom>
        </p:spPr>
      </p:pic>
    </p:spTree>
    <p:extLst>
      <p:ext uri="{BB962C8B-B14F-4D97-AF65-F5344CB8AC3E}">
        <p14:creationId xmlns:p14="http://schemas.microsoft.com/office/powerpoint/2010/main" val="3064072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046B40-D776-4CF2-9E52-FF12CE8EDAB7}"/>
              </a:ext>
            </a:extLst>
          </p:cNvPr>
          <p:cNvSpPr txBox="1"/>
          <p:nvPr/>
        </p:nvSpPr>
        <p:spPr>
          <a:xfrm>
            <a:off x="3937000" y="393700"/>
            <a:ext cx="4953000" cy="646331"/>
          </a:xfrm>
          <a:prstGeom prst="rect">
            <a:avLst/>
          </a:prstGeom>
          <a:noFill/>
        </p:spPr>
        <p:txBody>
          <a:bodyPr wrap="square" rtlCol="0">
            <a:spAutoFit/>
          </a:bodyPr>
          <a:lstStyle/>
          <a:p>
            <a:r>
              <a:rPr lang="en-US" sz="3600" dirty="0">
                <a:latin typeface="Forte" panose="03060902040502070203" pitchFamily="66" charset="0"/>
              </a:rPr>
              <a:t>Car Rental System</a:t>
            </a:r>
          </a:p>
        </p:txBody>
      </p:sp>
      <p:sp>
        <p:nvSpPr>
          <p:cNvPr id="3" name="TextBox 2">
            <a:extLst>
              <a:ext uri="{FF2B5EF4-FFF2-40B4-BE49-F238E27FC236}">
                <a16:creationId xmlns:a16="http://schemas.microsoft.com/office/drawing/2014/main" id="{94778FFB-34EE-44F9-A06D-12EA4E7C4F55}"/>
              </a:ext>
            </a:extLst>
          </p:cNvPr>
          <p:cNvSpPr txBox="1"/>
          <p:nvPr/>
        </p:nvSpPr>
        <p:spPr>
          <a:xfrm>
            <a:off x="431800" y="1739900"/>
            <a:ext cx="11188700" cy="4401205"/>
          </a:xfrm>
          <a:prstGeom prst="rect">
            <a:avLst/>
          </a:prstGeom>
          <a:solidFill>
            <a:srgbClr val="FFFFFF"/>
          </a:solidFill>
        </p:spPr>
        <p:txBody>
          <a:bodyPr wrap="square" rtlCol="0">
            <a:spAutoFit/>
          </a:bodyPr>
          <a:lstStyle/>
          <a:p>
            <a:pPr marL="0" indent="0">
              <a:buNone/>
            </a:pPr>
            <a:r>
              <a:rPr lang="en-US" sz="2800" dirty="0">
                <a:solidFill>
                  <a:schemeClr val="bg1"/>
                </a:solidFill>
              </a:rPr>
              <a:t>Consider a scenario where you need to model different cars in a car rental system. You have a base class Car with a virtual function display Specs(), which displays the car's specifications. Implement two derived classes Normal Car and Luxury Car, each representing a specific type of car. Override the display Specs() function in each derived class to provide the appropriate display behavior for the respective car type. Additionally, implement a Rent class that has a Car object as a member variable and demonstrates the usage of function overriding by calling the display Specs() function on the Car object. Finally, create objects of each car type and call the display Specs() function to demonstrate the usage of function overriding.</a:t>
            </a:r>
          </a:p>
        </p:txBody>
      </p:sp>
    </p:spTree>
    <p:extLst>
      <p:ext uri="{BB962C8B-B14F-4D97-AF65-F5344CB8AC3E}">
        <p14:creationId xmlns:p14="http://schemas.microsoft.com/office/powerpoint/2010/main" val="3893410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6CBB2B-D5AC-42F9-BE3C-B0FC19AA83FA}"/>
              </a:ext>
            </a:extLst>
          </p:cNvPr>
          <p:cNvSpPr txBox="1"/>
          <p:nvPr/>
        </p:nvSpPr>
        <p:spPr>
          <a:xfrm>
            <a:off x="3530600" y="215900"/>
            <a:ext cx="4953000" cy="584775"/>
          </a:xfrm>
          <a:prstGeom prst="rect">
            <a:avLst/>
          </a:prstGeom>
          <a:noFill/>
        </p:spPr>
        <p:txBody>
          <a:bodyPr wrap="square" rtlCol="0">
            <a:spAutoFit/>
          </a:bodyPr>
          <a:lstStyle/>
          <a:p>
            <a:r>
              <a:rPr lang="en-US" sz="3200" dirty="0">
                <a:latin typeface="Forte" panose="03060902040502070203" pitchFamily="66" charset="0"/>
              </a:rPr>
              <a:t>Main Features Of Program</a:t>
            </a:r>
          </a:p>
        </p:txBody>
      </p:sp>
      <p:sp>
        <p:nvSpPr>
          <p:cNvPr id="3" name="TextBox 2">
            <a:extLst>
              <a:ext uri="{FF2B5EF4-FFF2-40B4-BE49-F238E27FC236}">
                <a16:creationId xmlns:a16="http://schemas.microsoft.com/office/drawing/2014/main" id="{99C8557E-F535-41E1-B88D-C370A18AF71B}"/>
              </a:ext>
            </a:extLst>
          </p:cNvPr>
          <p:cNvSpPr txBox="1"/>
          <p:nvPr/>
        </p:nvSpPr>
        <p:spPr>
          <a:xfrm>
            <a:off x="114300" y="948234"/>
            <a:ext cx="11963400" cy="5693866"/>
          </a:xfrm>
          <a:prstGeom prst="rect">
            <a:avLst/>
          </a:prstGeom>
          <a:solidFill>
            <a:srgbClr val="FFFFFF"/>
          </a:solidFill>
        </p:spPr>
        <p:txBody>
          <a:bodyPr wrap="square" rtlCol="0">
            <a:spAutoFit/>
          </a:bodyPr>
          <a:lstStyle/>
          <a:p>
            <a:pPr marL="342900" indent="-342900">
              <a:buFont typeface="Wingdings" panose="05000000000000000000" pitchFamily="2" charset="2"/>
              <a:buChar char="§"/>
            </a:pPr>
            <a:r>
              <a:rPr lang="en-US" sz="2800" dirty="0">
                <a:solidFill>
                  <a:schemeClr val="bg1"/>
                </a:solidFill>
              </a:rPr>
              <a:t>A base class Car with attributes like name, color, mileage, fuel average, transmission, rate per hour, speed per kilometer, and a </a:t>
            </a:r>
            <a:r>
              <a:rPr lang="en-US" sz="2800" dirty="0" err="1">
                <a:solidFill>
                  <a:schemeClr val="bg1"/>
                </a:solidFill>
              </a:rPr>
              <a:t>boolean</a:t>
            </a:r>
            <a:r>
              <a:rPr lang="en-US" sz="2800" dirty="0">
                <a:solidFill>
                  <a:schemeClr val="bg1"/>
                </a:solidFill>
              </a:rPr>
              <a:t> flag for rental status.</a:t>
            </a:r>
          </a:p>
          <a:p>
            <a:pPr marL="342900" indent="-342900">
              <a:buFont typeface="Wingdings" panose="05000000000000000000" pitchFamily="2" charset="2"/>
              <a:buChar char="§"/>
            </a:pPr>
            <a:r>
              <a:rPr lang="en-US" sz="2800" dirty="0">
                <a:solidFill>
                  <a:schemeClr val="bg1"/>
                </a:solidFill>
              </a:rPr>
              <a:t>Two derived classes, Normal Car and Luxury Car, which inherit from the Car class.</a:t>
            </a:r>
          </a:p>
          <a:p>
            <a:pPr marL="342900" indent="-342900">
              <a:buFont typeface="Wingdings" panose="05000000000000000000" pitchFamily="2" charset="2"/>
              <a:buChar char="§"/>
            </a:pPr>
            <a:r>
              <a:rPr lang="en-US" sz="2800" dirty="0">
                <a:solidFill>
                  <a:schemeClr val="bg1"/>
                </a:solidFill>
              </a:rPr>
              <a:t>A Rent class that represents a car rental, including methods to display car specifications, calculate the total cost of rental, check availability, and rent a car.</a:t>
            </a:r>
          </a:p>
          <a:p>
            <a:pPr marL="342900" indent="-342900">
              <a:buFont typeface="Wingdings" panose="05000000000000000000" pitchFamily="2" charset="2"/>
              <a:buChar char="§"/>
            </a:pPr>
            <a:r>
              <a:rPr lang="en-US" sz="2800" dirty="0">
                <a:solidFill>
                  <a:schemeClr val="bg1"/>
                </a:solidFill>
              </a:rPr>
              <a:t>An Account class to store and display account details.</a:t>
            </a:r>
          </a:p>
          <a:p>
            <a:pPr marL="342900" indent="-342900">
              <a:buFont typeface="Wingdings" panose="05000000000000000000" pitchFamily="2" charset="2"/>
              <a:buChar char="§"/>
            </a:pPr>
            <a:r>
              <a:rPr lang="en-US" sz="2800" dirty="0">
                <a:solidFill>
                  <a:schemeClr val="bg1"/>
                </a:solidFill>
              </a:rPr>
              <a:t>In the main() function, an array of 8 cars (4 normal and 4 luxury) is created, and the user is prompted to choose a car type, select a car, rent it, and optionally provide account details.</a:t>
            </a:r>
          </a:p>
          <a:p>
            <a:pPr marL="342900" indent="-342900">
              <a:buFont typeface="Wingdings" panose="05000000000000000000" pitchFamily="2" charset="2"/>
              <a:buChar char="§"/>
            </a:pPr>
            <a:r>
              <a:rPr lang="en-US" sz="2800" dirty="0">
                <a:solidFill>
                  <a:schemeClr val="bg1"/>
                </a:solidFill>
              </a:rPr>
              <a:t>Error handling is implemented using a try-catch block to handle runtime errors.</a:t>
            </a:r>
          </a:p>
          <a:p>
            <a:pPr marL="342900" indent="-342900">
              <a:buFont typeface="Wingdings" panose="05000000000000000000" pitchFamily="2" charset="2"/>
              <a:buChar char="§"/>
            </a:pPr>
            <a:r>
              <a:rPr lang="en-US" sz="2800" dirty="0">
                <a:solidFill>
                  <a:schemeClr val="bg1"/>
                </a:solidFill>
              </a:rPr>
              <a:t>Finally, the program deletes the car objects and terminates</a:t>
            </a:r>
          </a:p>
        </p:txBody>
      </p:sp>
    </p:spTree>
    <p:extLst>
      <p:ext uri="{BB962C8B-B14F-4D97-AF65-F5344CB8AC3E}">
        <p14:creationId xmlns:p14="http://schemas.microsoft.com/office/powerpoint/2010/main" val="2209053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FA7997-35A2-4E18-9ECE-3B7D5CBCB8A3}"/>
              </a:ext>
            </a:extLst>
          </p:cNvPr>
          <p:cNvSpPr txBox="1"/>
          <p:nvPr/>
        </p:nvSpPr>
        <p:spPr>
          <a:xfrm>
            <a:off x="3835400" y="433169"/>
            <a:ext cx="4775200" cy="646331"/>
          </a:xfrm>
          <a:prstGeom prst="rect">
            <a:avLst/>
          </a:prstGeom>
          <a:noFill/>
        </p:spPr>
        <p:txBody>
          <a:bodyPr wrap="square" rtlCol="0">
            <a:spAutoFit/>
          </a:bodyPr>
          <a:lstStyle/>
          <a:p>
            <a:r>
              <a:rPr lang="en-US" sz="3600" dirty="0">
                <a:latin typeface="Forte" panose="03060902040502070203" pitchFamily="66" charset="0"/>
              </a:rPr>
              <a:t>Main Concepts Used</a:t>
            </a:r>
          </a:p>
        </p:txBody>
      </p:sp>
      <p:sp>
        <p:nvSpPr>
          <p:cNvPr id="3" name="TextBox 2">
            <a:extLst>
              <a:ext uri="{FF2B5EF4-FFF2-40B4-BE49-F238E27FC236}">
                <a16:creationId xmlns:a16="http://schemas.microsoft.com/office/drawing/2014/main" id="{928DFF2B-778A-45DB-B393-7A64C3A60154}"/>
              </a:ext>
            </a:extLst>
          </p:cNvPr>
          <p:cNvSpPr txBox="1"/>
          <p:nvPr/>
        </p:nvSpPr>
        <p:spPr>
          <a:xfrm>
            <a:off x="1092200" y="1638300"/>
            <a:ext cx="10109200" cy="4247317"/>
          </a:xfrm>
          <a:prstGeom prst="rect">
            <a:avLst/>
          </a:prstGeom>
          <a:noFill/>
        </p:spPr>
        <p:txBody>
          <a:bodyPr wrap="square" rtlCol="0">
            <a:spAutoFit/>
          </a:bodyPr>
          <a:lstStyle/>
          <a:p>
            <a:pPr marL="285750" indent="-285750">
              <a:buFont typeface="Wingdings" panose="05000000000000000000" pitchFamily="2" charset="2"/>
              <a:buChar char="q"/>
            </a:pPr>
            <a:r>
              <a:rPr lang="en-US" sz="2800" dirty="0"/>
              <a:t> Inheritence  </a:t>
            </a:r>
          </a:p>
          <a:p>
            <a:pPr marL="285750" indent="-285750">
              <a:buFont typeface="Wingdings" panose="05000000000000000000" pitchFamily="2" charset="2"/>
              <a:buChar char="q"/>
            </a:pPr>
            <a:r>
              <a:rPr lang="en-US" sz="2800" dirty="0"/>
              <a:t> Abstraction </a:t>
            </a:r>
          </a:p>
          <a:p>
            <a:pPr marL="285750" indent="-285750">
              <a:buFont typeface="Wingdings" panose="05000000000000000000" pitchFamily="2" charset="2"/>
              <a:buChar char="q"/>
            </a:pPr>
            <a:r>
              <a:rPr lang="en-US" sz="2800" dirty="0"/>
              <a:t> Encapsulation </a:t>
            </a:r>
          </a:p>
          <a:p>
            <a:pPr marL="285750" indent="-285750">
              <a:buFont typeface="Wingdings" panose="05000000000000000000" pitchFamily="2" charset="2"/>
              <a:buChar char="q"/>
            </a:pPr>
            <a:r>
              <a:rPr lang="en-US" sz="2800" dirty="0"/>
              <a:t> Constructor </a:t>
            </a:r>
          </a:p>
          <a:p>
            <a:pPr marL="285750" indent="-285750">
              <a:buFont typeface="Wingdings" panose="05000000000000000000" pitchFamily="2" charset="2"/>
              <a:buChar char="q"/>
            </a:pPr>
            <a:r>
              <a:rPr lang="en-US" sz="2800" dirty="0"/>
              <a:t> Destructor </a:t>
            </a:r>
          </a:p>
          <a:p>
            <a:pPr marL="285750" indent="-285750">
              <a:buFont typeface="Wingdings" panose="05000000000000000000" pitchFamily="2" charset="2"/>
              <a:buChar char="q"/>
            </a:pPr>
            <a:r>
              <a:rPr lang="en-US" sz="2800" dirty="0"/>
              <a:t> Virtual function (polymorphism)</a:t>
            </a:r>
          </a:p>
          <a:p>
            <a:pPr marL="285750" indent="-285750">
              <a:buFont typeface="Wingdings" panose="05000000000000000000" pitchFamily="2" charset="2"/>
              <a:buChar char="q"/>
            </a:pPr>
            <a:r>
              <a:rPr lang="en-US" sz="2800" dirty="0"/>
              <a:t> Polymorphism (override)</a:t>
            </a:r>
          </a:p>
          <a:p>
            <a:pPr marL="285750" indent="-285750">
              <a:buFont typeface="Wingdings" panose="05000000000000000000" pitchFamily="2" charset="2"/>
              <a:buChar char="q"/>
            </a:pPr>
            <a:r>
              <a:rPr lang="en-US" sz="2800" dirty="0"/>
              <a:t> Dynamic memory allocation/deallocation </a:t>
            </a:r>
          </a:p>
          <a:p>
            <a:pPr marL="285750" indent="-285750">
              <a:buFont typeface="Wingdings" panose="05000000000000000000" pitchFamily="2" charset="2"/>
              <a:buChar char="q"/>
            </a:pPr>
            <a:r>
              <a:rPr lang="en-US" sz="2800" dirty="0"/>
              <a:t> Exception handling </a:t>
            </a:r>
          </a:p>
          <a:p>
            <a:endParaRPr lang="en-US" dirty="0"/>
          </a:p>
        </p:txBody>
      </p:sp>
    </p:spTree>
    <p:extLst>
      <p:ext uri="{BB962C8B-B14F-4D97-AF65-F5344CB8AC3E}">
        <p14:creationId xmlns:p14="http://schemas.microsoft.com/office/powerpoint/2010/main" val="4117288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380E9A-0E42-4C68-AB40-426C5484323D}"/>
              </a:ext>
            </a:extLst>
          </p:cNvPr>
          <p:cNvPicPr>
            <a:picLocks noChangeAspect="1"/>
          </p:cNvPicPr>
          <p:nvPr/>
        </p:nvPicPr>
        <p:blipFill>
          <a:blip r:embed="rId2"/>
          <a:stretch>
            <a:fillRect/>
          </a:stretch>
        </p:blipFill>
        <p:spPr>
          <a:xfrm>
            <a:off x="999240" y="0"/>
            <a:ext cx="9483365" cy="6858000"/>
          </a:xfrm>
          <a:prstGeom prst="rect">
            <a:avLst/>
          </a:prstGeom>
        </p:spPr>
      </p:pic>
    </p:spTree>
    <p:extLst>
      <p:ext uri="{BB962C8B-B14F-4D97-AF65-F5344CB8AC3E}">
        <p14:creationId xmlns:p14="http://schemas.microsoft.com/office/powerpoint/2010/main" val="2355435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6BB283-0875-414B-B9A1-93730C37BF4E}"/>
              </a:ext>
            </a:extLst>
          </p:cNvPr>
          <p:cNvPicPr>
            <a:picLocks noChangeAspect="1"/>
          </p:cNvPicPr>
          <p:nvPr/>
        </p:nvPicPr>
        <p:blipFill>
          <a:blip r:embed="rId2"/>
          <a:stretch>
            <a:fillRect/>
          </a:stretch>
        </p:blipFill>
        <p:spPr>
          <a:xfrm>
            <a:off x="1556985" y="0"/>
            <a:ext cx="9078030" cy="6858000"/>
          </a:xfrm>
          <a:prstGeom prst="rect">
            <a:avLst/>
          </a:prstGeom>
        </p:spPr>
      </p:pic>
    </p:spTree>
    <p:extLst>
      <p:ext uri="{BB962C8B-B14F-4D97-AF65-F5344CB8AC3E}">
        <p14:creationId xmlns:p14="http://schemas.microsoft.com/office/powerpoint/2010/main" val="942608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77877A-0786-4522-9998-B4F7EB8954F1}"/>
              </a:ext>
            </a:extLst>
          </p:cNvPr>
          <p:cNvPicPr>
            <a:picLocks noChangeAspect="1"/>
          </p:cNvPicPr>
          <p:nvPr/>
        </p:nvPicPr>
        <p:blipFill>
          <a:blip r:embed="rId2"/>
          <a:stretch>
            <a:fillRect/>
          </a:stretch>
        </p:blipFill>
        <p:spPr>
          <a:xfrm>
            <a:off x="1084082" y="0"/>
            <a:ext cx="8560295" cy="6858000"/>
          </a:xfrm>
          <a:prstGeom prst="rect">
            <a:avLst/>
          </a:prstGeom>
        </p:spPr>
      </p:pic>
    </p:spTree>
    <p:extLst>
      <p:ext uri="{BB962C8B-B14F-4D97-AF65-F5344CB8AC3E}">
        <p14:creationId xmlns:p14="http://schemas.microsoft.com/office/powerpoint/2010/main" val="2826169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20AF93-1911-46A4-90C4-73342296CE27}"/>
              </a:ext>
            </a:extLst>
          </p:cNvPr>
          <p:cNvPicPr>
            <a:picLocks noChangeAspect="1"/>
          </p:cNvPicPr>
          <p:nvPr/>
        </p:nvPicPr>
        <p:blipFill>
          <a:blip r:embed="rId2"/>
          <a:stretch>
            <a:fillRect/>
          </a:stretch>
        </p:blipFill>
        <p:spPr>
          <a:xfrm>
            <a:off x="678731" y="0"/>
            <a:ext cx="9794536" cy="6858000"/>
          </a:xfrm>
          <a:prstGeom prst="rect">
            <a:avLst/>
          </a:prstGeom>
        </p:spPr>
      </p:pic>
    </p:spTree>
    <p:extLst>
      <p:ext uri="{BB962C8B-B14F-4D97-AF65-F5344CB8AC3E}">
        <p14:creationId xmlns:p14="http://schemas.microsoft.com/office/powerpoint/2010/main" val="1091687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1D33A3-9C3E-4987-BC9F-968603706B22}"/>
              </a:ext>
            </a:extLst>
          </p:cNvPr>
          <p:cNvPicPr>
            <a:picLocks noChangeAspect="1"/>
          </p:cNvPicPr>
          <p:nvPr/>
        </p:nvPicPr>
        <p:blipFill>
          <a:blip r:embed="rId2"/>
          <a:stretch>
            <a:fillRect/>
          </a:stretch>
        </p:blipFill>
        <p:spPr>
          <a:xfrm>
            <a:off x="367646" y="0"/>
            <a:ext cx="10082576" cy="6858000"/>
          </a:xfrm>
          <a:prstGeom prst="rect">
            <a:avLst/>
          </a:prstGeom>
        </p:spPr>
      </p:pic>
    </p:spTree>
    <p:extLst>
      <p:ext uri="{BB962C8B-B14F-4D97-AF65-F5344CB8AC3E}">
        <p14:creationId xmlns:p14="http://schemas.microsoft.com/office/powerpoint/2010/main" val="693745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DA3C05-C0F0-46E9-9943-44FCD5539C06}"/>
              </a:ext>
            </a:extLst>
          </p:cNvPr>
          <p:cNvPicPr>
            <a:picLocks noChangeAspect="1"/>
          </p:cNvPicPr>
          <p:nvPr/>
        </p:nvPicPr>
        <p:blipFill>
          <a:blip r:embed="rId2"/>
          <a:stretch>
            <a:fillRect/>
          </a:stretch>
        </p:blipFill>
        <p:spPr>
          <a:xfrm>
            <a:off x="924581" y="1291473"/>
            <a:ext cx="6743044" cy="2751890"/>
          </a:xfrm>
          <a:prstGeom prst="rect">
            <a:avLst/>
          </a:prstGeom>
        </p:spPr>
      </p:pic>
    </p:spTree>
    <p:extLst>
      <p:ext uri="{BB962C8B-B14F-4D97-AF65-F5344CB8AC3E}">
        <p14:creationId xmlns:p14="http://schemas.microsoft.com/office/powerpoint/2010/main" val="1634757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F1810C-5C9F-414A-A14E-33B3CD8DF08D}"/>
              </a:ext>
            </a:extLst>
          </p:cNvPr>
          <p:cNvPicPr>
            <a:picLocks noChangeAspect="1"/>
          </p:cNvPicPr>
          <p:nvPr/>
        </p:nvPicPr>
        <p:blipFill>
          <a:blip r:embed="rId2"/>
          <a:stretch>
            <a:fillRect/>
          </a:stretch>
        </p:blipFill>
        <p:spPr>
          <a:xfrm>
            <a:off x="942680" y="0"/>
            <a:ext cx="6881567" cy="6858000"/>
          </a:xfrm>
          <a:prstGeom prst="rect">
            <a:avLst/>
          </a:prstGeom>
        </p:spPr>
      </p:pic>
      <p:sp>
        <p:nvSpPr>
          <p:cNvPr id="4" name="TextBox 3">
            <a:extLst>
              <a:ext uri="{FF2B5EF4-FFF2-40B4-BE49-F238E27FC236}">
                <a16:creationId xmlns:a16="http://schemas.microsoft.com/office/drawing/2014/main" id="{19E6FA30-3C96-4C35-A6F5-949BDA212AA9}"/>
              </a:ext>
            </a:extLst>
          </p:cNvPr>
          <p:cNvSpPr txBox="1"/>
          <p:nvPr/>
        </p:nvSpPr>
        <p:spPr>
          <a:xfrm>
            <a:off x="8191893" y="659876"/>
            <a:ext cx="3299381" cy="646331"/>
          </a:xfrm>
          <a:prstGeom prst="rect">
            <a:avLst/>
          </a:prstGeom>
          <a:noFill/>
        </p:spPr>
        <p:txBody>
          <a:bodyPr wrap="square" rtlCol="0">
            <a:spAutoFit/>
          </a:bodyPr>
          <a:lstStyle/>
          <a:p>
            <a:r>
              <a:rPr lang="en-US" dirty="0"/>
              <a:t>Output of this program may vary according to the users choice</a:t>
            </a:r>
          </a:p>
        </p:txBody>
      </p:sp>
    </p:spTree>
    <p:extLst>
      <p:ext uri="{BB962C8B-B14F-4D97-AF65-F5344CB8AC3E}">
        <p14:creationId xmlns:p14="http://schemas.microsoft.com/office/powerpoint/2010/main" val="4168690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E6FA30-3C96-4C35-A6F5-949BDA212AA9}"/>
              </a:ext>
            </a:extLst>
          </p:cNvPr>
          <p:cNvSpPr txBox="1"/>
          <p:nvPr/>
        </p:nvSpPr>
        <p:spPr>
          <a:xfrm>
            <a:off x="1772239" y="3061198"/>
            <a:ext cx="9030878" cy="584775"/>
          </a:xfrm>
          <a:prstGeom prst="rect">
            <a:avLst/>
          </a:prstGeom>
          <a:noFill/>
        </p:spPr>
        <p:txBody>
          <a:bodyPr wrap="square" rtlCol="0">
            <a:spAutoFit/>
          </a:bodyPr>
          <a:lstStyle/>
          <a:p>
            <a:r>
              <a:rPr lang="en-US" sz="3200" dirty="0">
                <a:latin typeface="Forte" panose="03060902040502070203" pitchFamily="66" charset="0"/>
              </a:rPr>
              <a:t>Thank  you  for  Your  Time  And Concentration!</a:t>
            </a:r>
          </a:p>
        </p:txBody>
      </p:sp>
    </p:spTree>
    <p:extLst>
      <p:ext uri="{BB962C8B-B14F-4D97-AF65-F5344CB8AC3E}">
        <p14:creationId xmlns:p14="http://schemas.microsoft.com/office/powerpoint/2010/main" val="31386379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THREE.pptx" id="{E781C72B-3D65-4B8D-9071-33B66AF0EF30}" vid="{3A5A58F2-9BE1-435C-B12D-88FD9BF70179}"/>
    </a:ext>
  </a:extLst>
</a:theme>
</file>

<file path=docProps/app.xml><?xml version="1.0" encoding="utf-8"?>
<Properties xmlns="http://schemas.openxmlformats.org/officeDocument/2006/extended-properties" xmlns:vt="http://schemas.openxmlformats.org/officeDocument/2006/docPropsVTypes">
  <Template>{9EBFE1A4-DAB2-4478-AA4A-9F69775F1829}tf12214701_win32</Template>
  <TotalTime>126</TotalTime>
  <Words>611</Words>
  <Application>Microsoft Office PowerPoint</Application>
  <PresentationFormat>Widescreen</PresentationFormat>
  <Paragraphs>59</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Algerian</vt:lpstr>
      <vt:lpstr>Andalus</vt:lpstr>
      <vt:lpstr>Arial</vt:lpstr>
      <vt:lpstr>Forte</vt:lpstr>
      <vt:lpstr>Goudy Old Style</vt:lpstr>
      <vt:lpstr>Wingdings</vt:lpstr>
      <vt:lpstr>Wingdings 2</vt:lpstr>
      <vt:lpstr>SlateVTI</vt:lpstr>
      <vt:lpstr>Online Banking &amp; Car Rental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Banking</dc:title>
  <dc:creator>Aiza Ejaz</dc:creator>
  <cp:lastModifiedBy>Aiza Ejaz</cp:lastModifiedBy>
  <cp:revision>8</cp:revision>
  <dcterms:created xsi:type="dcterms:W3CDTF">2024-05-26T14:01:47Z</dcterms:created>
  <dcterms:modified xsi:type="dcterms:W3CDTF">2024-05-26T16:12:58Z</dcterms:modified>
</cp:coreProperties>
</file>